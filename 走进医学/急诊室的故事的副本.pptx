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2" r:id="rId5"/>
    <p:sldId id="263" r:id="rId6"/>
    <p:sldId id="264" r:id="rId7"/>
    <p:sldId id="276" r:id="rId8"/>
    <p:sldId id="265" r:id="rId9"/>
    <p:sldId id="305" r:id="rId10"/>
    <p:sldId id="280" r:id="rId11"/>
    <p:sldId id="281" r:id="rId12"/>
    <p:sldId id="285" r:id="rId13"/>
    <p:sldId id="286" r:id="rId14"/>
    <p:sldId id="287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7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CC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7" autoAdjust="0"/>
    <p:restoredTop sz="94414" autoAdjust="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34905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990099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/>
          <a:lstStyle>
            <a:lvl1pPr>
              <a:defRPr b="1">
                <a:solidFill>
                  <a:srgbClr val="990099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 b="1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>
              <a:defRPr sz="2800" b="1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>
              <a:defRPr sz="2400" b="1"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>
              <a:defRPr sz="2000" b="1"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>
              <a:defRPr sz="2000" b="1"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rgbClr val="990099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7839"/>
            <a:ext cx="10515600" cy="1325563"/>
          </a:xfrm>
        </p:spPr>
        <p:txBody>
          <a:bodyPr/>
          <a:lstStyle>
            <a:lvl1pPr>
              <a:defRPr b="1">
                <a:solidFill>
                  <a:srgbClr val="990099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800" b="1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>
              <a:defRPr sz="2400" b="1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>
              <a:defRPr sz="2000" b="1"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>
              <a:defRPr sz="1800" b="1"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>
              <a:defRPr sz="1800" b="1"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800" b="1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>
              <a:defRPr sz="2400" b="1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>
              <a:defRPr sz="2000" b="1"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>
              <a:defRPr sz="1800" b="1"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>
              <a:defRPr sz="1800" b="1"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7837"/>
            <a:ext cx="10515600" cy="1325563"/>
          </a:xfrm>
        </p:spPr>
        <p:txBody>
          <a:bodyPr/>
          <a:lstStyle>
            <a:lvl1pPr>
              <a:defRPr b="1">
                <a:solidFill>
                  <a:srgbClr val="990099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50">
                <a:solidFill>
                  <a:srgbClr val="39639D"/>
                </a:solidFill>
                <a:effectLst>
                  <a:outerShdw blurRad="38100" dist="20320" dir="2700000" rotWithShape="0">
                    <a:srgbClr val="000000">
                      <a:alpha val="70000"/>
                    </a:srgbClr>
                  </a:outerShdw>
                </a:effectLst>
                <a:latin typeface="Footlight MT Light"/>
                <a:ea typeface="Footlight MT Light"/>
                <a:cs typeface="Footlight MT Light"/>
                <a:sym typeface="Footlight MT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128" name="正文级别 1…"/>
          <p:cNvSpPr txBox="1"/>
          <p:nvPr>
            <p:ph type="body" sz="half" idx="1" hasCustomPrompt="1"/>
          </p:nvPr>
        </p:nvSpPr>
        <p:spPr>
          <a:xfrm>
            <a:off x="755649" y="1484312"/>
            <a:ext cx="5255687" cy="4606927"/>
          </a:xfrm>
          <a:prstGeom prst="rect">
            <a:avLst/>
          </a:prstGeom>
        </p:spPr>
        <p:txBody>
          <a:bodyPr/>
          <a:lstStyle>
            <a:lvl1pPr>
              <a:buClr>
                <a:srgbClr val="464646"/>
              </a:buClr>
              <a:buSzPct val="60000"/>
              <a:buChar char="◈"/>
              <a:defRPr>
                <a:latin typeface="Goudy Old Style"/>
                <a:ea typeface="Goudy Old Style"/>
                <a:cs typeface="Goudy Old Style"/>
                <a:sym typeface="Goudy Old Style"/>
              </a:defRPr>
            </a:lvl1pPr>
            <a:lvl2pPr marL="830580" indent="-373380">
              <a:buClr>
                <a:srgbClr val="464646"/>
              </a:buClr>
              <a:buSzPct val="60000"/>
              <a:buChar char="³"/>
              <a:defRPr>
                <a:latin typeface="Goudy Old Style"/>
                <a:ea typeface="Goudy Old Style"/>
                <a:cs typeface="Goudy Old Style"/>
                <a:sym typeface="Goudy Old Style"/>
              </a:defRPr>
            </a:lvl2pPr>
            <a:lvl3pPr marL="1320800" indent="-406400">
              <a:buClr>
                <a:srgbClr val="464646"/>
              </a:buClr>
              <a:buSzPct val="60000"/>
              <a:buChar char="°"/>
              <a:defRPr>
                <a:latin typeface="Goudy Old Style"/>
                <a:ea typeface="Goudy Old Style"/>
                <a:cs typeface="Goudy Old Style"/>
                <a:sym typeface="Goudy Old Style"/>
              </a:defRPr>
            </a:lvl3pPr>
            <a:lvl4pPr marL="1957070" indent="-585470">
              <a:buClr>
                <a:srgbClr val="464646"/>
              </a:buClr>
              <a:buSzPct val="60000"/>
              <a:buChar char="◇"/>
              <a:defRPr>
                <a:latin typeface="Goudy Old Style"/>
                <a:ea typeface="Goudy Old Style"/>
                <a:cs typeface="Goudy Old Style"/>
                <a:sym typeface="Goudy Old Style"/>
              </a:defRPr>
            </a:lvl4pPr>
            <a:lvl5pPr marL="2414270" indent="-585470">
              <a:buClr>
                <a:srgbClr val="464646"/>
              </a:buClr>
              <a:buSzPct val="60000"/>
              <a:buChar char="◆"/>
              <a:defRPr>
                <a:latin typeface="Goudy Old Style"/>
                <a:ea typeface="Goudy Old Style"/>
                <a:cs typeface="Goudy Old Style"/>
                <a:sym typeface="Goudy Old Style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9" name="幻灯片编号"/>
          <p:cNvSpPr txBox="1"/>
          <p:nvPr>
            <p:ph type="sldNum" sz="quarter" idx="2"/>
          </p:nvPr>
        </p:nvSpPr>
        <p:spPr>
          <a:xfrm>
            <a:off x="11267831" y="6410642"/>
            <a:ext cx="314571" cy="256541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978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030F-0989-4CC8-9E62-B48500B4DE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6E5B2-1AA7-405D-8CCF-5FC830059E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990099"/>
          </a:solidFill>
          <a:latin typeface="幼圆" panose="02010509060101010101" pitchFamily="49" charset="-122"/>
          <a:ea typeface="幼圆" panose="020105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1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1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1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1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1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hudong.com/wiki/%E8%86%88%E8%82%8C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hyperlink" Target="http://www.hudong.com/wiki/%E5%BF%83%E8%B7%B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hudong.com/wiki/%E5%91%BC%E5%90%B8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急诊室的故事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一颗葡萄引发的</a:t>
            </a:r>
            <a:r>
              <a:rPr lang="zh-CN" altLang="en-US" dirty="0" smtClean="0"/>
              <a:t>血案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8355"/>
            <a:ext cx="10497820" cy="2141855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主诉：呼吸心跳骤停</a:t>
            </a:r>
            <a:r>
              <a:rPr lang="en-US" altLang="zh-CN" dirty="0"/>
              <a:t>30</a:t>
            </a:r>
            <a:r>
              <a:rPr lang="zh-CN" altLang="en-US" dirty="0" smtClean="0"/>
              <a:t>分钟</a:t>
            </a:r>
            <a:endParaRPr lang="en-US" altLang="zh-CN" dirty="0" smtClean="0"/>
          </a:p>
          <a:p>
            <a:r>
              <a:rPr lang="zh-CN" altLang="en-US" dirty="0"/>
              <a:t>病史：</a:t>
            </a:r>
            <a:r>
              <a:rPr lang="en-US" altLang="zh-CN" dirty="0"/>
              <a:t>21:00</a:t>
            </a:r>
            <a:r>
              <a:rPr lang="zh-CN" altLang="en-US" dirty="0"/>
              <a:t>左右患者食用葡萄（具体数量不详）后家属发现患者面色苍白、呼之不应，紧急呼叫</a:t>
            </a:r>
            <a:r>
              <a:rPr lang="en-US" altLang="zh-CN" dirty="0"/>
              <a:t>120</a:t>
            </a:r>
            <a:r>
              <a:rPr lang="zh-CN" altLang="en-US" dirty="0"/>
              <a:t>，</a:t>
            </a:r>
            <a:r>
              <a:rPr lang="en-US" altLang="zh-CN" dirty="0"/>
              <a:t>21:20</a:t>
            </a:r>
            <a:r>
              <a:rPr lang="zh-CN" altLang="en-US" dirty="0"/>
              <a:t>左右</a:t>
            </a:r>
            <a:r>
              <a:rPr lang="en-US" altLang="zh-CN" dirty="0"/>
              <a:t>120</a:t>
            </a:r>
            <a:r>
              <a:rPr lang="zh-CN" altLang="en-US" dirty="0"/>
              <a:t>到场，查体大动脉搏动消失，予清除患者口中葡萄</a:t>
            </a:r>
            <a:r>
              <a:rPr lang="en-US" altLang="zh-CN" dirty="0"/>
              <a:t>1</a:t>
            </a:r>
            <a:r>
              <a:rPr lang="zh-CN" altLang="en-US" dirty="0"/>
              <a:t>粒，胸外按压来诊。</a:t>
            </a:r>
            <a:endParaRPr lang="zh-CN" altLang="en-US" dirty="0"/>
          </a:p>
          <a:p>
            <a:r>
              <a:rPr lang="zh-CN" altLang="en-US" dirty="0"/>
              <a:t>既往冠心病、冠脉支架术后；高血压，糖尿病，肾功能不全，长期服用利尿剂；银屑病，长期使用外用药物。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体格检查：体温：</a:t>
            </a:r>
            <a:r>
              <a:rPr lang="en-US" altLang="zh-CN" dirty="0"/>
              <a:t>36℃</a:t>
            </a:r>
            <a:r>
              <a:rPr lang="zh-CN" altLang="en-US" dirty="0"/>
              <a:t>；心率：</a:t>
            </a:r>
            <a:r>
              <a:rPr lang="en-US" altLang="zh-CN" dirty="0"/>
              <a:t>0</a:t>
            </a:r>
            <a:r>
              <a:rPr lang="zh-CN" altLang="en-US" dirty="0"/>
              <a:t>次</a:t>
            </a:r>
            <a:r>
              <a:rPr lang="en-US" altLang="zh-CN" dirty="0"/>
              <a:t>/</a:t>
            </a:r>
            <a:r>
              <a:rPr lang="zh-CN" altLang="en-US" dirty="0"/>
              <a:t>分；呼吸：</a:t>
            </a:r>
            <a:r>
              <a:rPr lang="en-US" altLang="zh-CN" dirty="0"/>
              <a:t>0</a:t>
            </a:r>
            <a:r>
              <a:rPr lang="zh-CN" altLang="en-US" dirty="0"/>
              <a:t>次</a:t>
            </a:r>
            <a:r>
              <a:rPr lang="en-US" altLang="zh-CN" dirty="0"/>
              <a:t>/</a:t>
            </a:r>
            <a:r>
              <a:rPr lang="zh-CN" altLang="en-US" dirty="0"/>
              <a:t>分；收缩压：</a:t>
            </a:r>
            <a:r>
              <a:rPr lang="en-US" altLang="zh-CN" dirty="0"/>
              <a:t>0mmHg</a:t>
            </a:r>
            <a:r>
              <a:rPr lang="zh-CN" altLang="en-US" dirty="0"/>
              <a:t>；舒张压：</a:t>
            </a:r>
            <a:r>
              <a:rPr lang="en-US" altLang="zh-CN" dirty="0"/>
              <a:t>0mmHg</a:t>
            </a:r>
            <a:r>
              <a:rPr lang="zh-CN" altLang="en-US" dirty="0"/>
              <a:t>；血氧饱和度：</a:t>
            </a:r>
            <a:r>
              <a:rPr lang="en-US" altLang="zh-CN" dirty="0"/>
              <a:t>--%</a:t>
            </a:r>
            <a:r>
              <a:rPr lang="zh-CN" altLang="en-US" dirty="0" smtClean="0"/>
              <a:t>；呼之不</a:t>
            </a:r>
            <a:r>
              <a:rPr lang="zh-CN" altLang="en-US" dirty="0"/>
              <a:t>应，瞳孔</a:t>
            </a:r>
            <a:r>
              <a:rPr lang="en-US" altLang="zh-CN" dirty="0"/>
              <a:t>3:3mm</a:t>
            </a:r>
            <a:r>
              <a:rPr lang="zh-CN" altLang="en-US" dirty="0"/>
              <a:t>，对光反射消失，四肢厥冷，全身可见弥漫片状色素沉着。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患者来诊，入抢救室，查体：大动脉搏动消失血压、血氧饱和度测不出。口中可见分泌物，大动脉搏动消失，四肢厥冷，予紧急气管插管、胸外按压，同时予肾上腺素</a:t>
            </a:r>
            <a:r>
              <a:rPr lang="en-US" altLang="zh-CN" dirty="0"/>
              <a:t>1mg</a:t>
            </a:r>
            <a:r>
              <a:rPr lang="zh-CN" altLang="en-US" dirty="0"/>
              <a:t>每</a:t>
            </a:r>
            <a:r>
              <a:rPr lang="en-US" altLang="zh-CN" dirty="0"/>
              <a:t>3min</a:t>
            </a:r>
            <a:r>
              <a:rPr lang="zh-CN" altLang="en-US" dirty="0"/>
              <a:t>静脉注射；</a:t>
            </a:r>
            <a:r>
              <a:rPr lang="en-US" altLang="zh-CN" dirty="0"/>
              <a:t>22:15</a:t>
            </a:r>
            <a:r>
              <a:rPr lang="zh-CN" altLang="en-US" dirty="0"/>
              <a:t>患者呼吸心跳恢复。患者昏迷状态，呼之不应，血压进行性下降，床旁心脏超声提示弥漫性心肌收缩减弱，予以多巴胺以及去甲肾上腺素持续泵入至极量，血压维持不佳，双侧瞳孔散大，对光反射消失，</a:t>
            </a:r>
            <a:r>
              <a:rPr lang="en-US" altLang="zh-CN" dirty="0"/>
              <a:t>2019-7-19 12:03</a:t>
            </a:r>
            <a:r>
              <a:rPr lang="zh-CN" altLang="en-US" dirty="0"/>
              <a:t>分心电示波为一直线，宣布临床死亡。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IMG_98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030" y="1546860"/>
            <a:ext cx="3681730" cy="4909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95" y="1666803"/>
            <a:ext cx="9438409" cy="432472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标题 46081"/>
          <p:cNvSpPr>
            <a:spLocks noGrp="1"/>
          </p:cNvSpPr>
          <p:nvPr>
            <p:ph type="title"/>
          </p:nvPr>
        </p:nvSpPr>
        <p:spPr>
          <a:xfrm>
            <a:off x="1694815" y="341630"/>
            <a:ext cx="7925435" cy="1143000"/>
          </a:xfrm>
          <a:noFill/>
          <a:ln>
            <a:noFill/>
          </a:ln>
        </p:spPr>
        <p:txBody>
          <a:bodyPr anchor="t">
            <a:normAutofit/>
          </a:bodyPr>
          <a:p>
            <a:r>
              <a:rPr lang="zh-CN" altLang="en-US" sz="4000">
                <a:sym typeface="+mn-ea"/>
              </a:rPr>
              <a:t>海姆立克</a:t>
            </a:r>
            <a:r>
              <a:rPr lang="en-US" altLang="zh-CN" sz="4000">
                <a:sym typeface="+mn-ea"/>
              </a:rPr>
              <a:t>(</a:t>
            </a:r>
            <a:r>
              <a:rPr lang="en-US" altLang="zh-CN" sz="4000">
                <a:latin typeface="隶书" pitchFamily="49" charset="-122"/>
                <a:ea typeface="隶书" pitchFamily="49" charset="-122"/>
                <a:sym typeface="+mn-ea"/>
              </a:rPr>
              <a:t>Heimlich)</a:t>
            </a:r>
            <a:r>
              <a:rPr lang="zh-CN" altLang="en-US" sz="4000">
                <a:sym typeface="+mn-ea"/>
              </a:rPr>
              <a:t>急救法</a:t>
            </a:r>
            <a:endParaRPr lang="zh-CN" altLang="en-US" sz="40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6083" name="内容占位符 46082"/>
          <p:cNvSpPr>
            <a:spLocks noGrp="1"/>
          </p:cNvSpPr>
          <p:nvPr>
            <p:ph idx="1"/>
          </p:nvPr>
        </p:nvSpPr>
        <p:spPr>
          <a:xfrm>
            <a:off x="283210" y="1485900"/>
            <a:ext cx="6978650" cy="4524375"/>
          </a:xfrm>
          <a:noFill/>
          <a:ln>
            <a:noFill/>
          </a:ln>
        </p:spPr>
        <p:txBody>
          <a:bodyPr anchor="t">
            <a:normAutofit fontScale="90000" lnSpcReduction="20000"/>
          </a:bodyPr>
          <a:p>
            <a:pPr>
              <a:lnSpc>
                <a:spcPct val="90000"/>
              </a:lnSpc>
              <a:buNone/>
            </a:pPr>
            <a:r>
              <a:rPr lang="zh-CN" altLang="en-US" sz="2800" dirty="0"/>
              <a:t>  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是海姆立克教授于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1974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年发明的，它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是一种运用于呼吸道异物窒息的快速急救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手法。 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亨利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·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海姆立克教授是一位资深的外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科医生，他在临床实践中，被大量的食物、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异物窒息造成死亡的病例震惊了。而在急诊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的急救中，医生常常采用拍打病人背部，或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将手指伸进口腔咽喉去取的办法排除异物，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其结果不仅无效反而使异物深入呼吸道。这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个发现，使他陷入了深深地思考。在他的不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断思考中“海姆立克”急救手法蕴育而生。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6084" name="Picture 4" descr="heimlich pho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035" y="1484313"/>
            <a:ext cx="4608513" cy="5373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2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charRg st="25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4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charRg st="44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53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3">
                                            <p:txEl>
                                              <p:charRg st="53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74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6083">
                                            <p:txEl>
                                              <p:charRg st="74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9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charRg st="96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16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083">
                                            <p:txEl>
                                              <p:charRg st="116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36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083">
                                            <p:txEl>
                                              <p:charRg st="136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56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6083">
                                            <p:txEl>
                                              <p:charRg st="156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76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6083">
                                            <p:txEl>
                                              <p:charRg st="176" end="1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96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83">
                                            <p:txEl>
                                              <p:charRg st="196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5" name="内容占位符 49154"/>
          <p:cNvSpPr>
            <a:spLocks noGrp="1"/>
          </p:cNvSpPr>
          <p:nvPr>
            <p:ph idx="1"/>
          </p:nvPr>
        </p:nvSpPr>
        <p:spPr>
          <a:xfrm>
            <a:off x="611823" y="1354138"/>
            <a:ext cx="10631487" cy="4773612"/>
          </a:xfrm>
          <a:noFill/>
          <a:ln>
            <a:noFill/>
          </a:ln>
        </p:spPr>
        <p:txBody>
          <a:bodyPr anchor="t"/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在此后的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年中，这种急救法在美国就已经救活了一万多人的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生命。海姆利克教授也因此被世界名人录誉为“世界上挽救生命最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多的人”。</a:t>
            </a:r>
            <a:br>
              <a:rPr lang="zh-CN" altLang="en-US" sz="2400" dirty="0"/>
            </a:br>
            <a:endParaRPr lang="zh-CN" altLang="en-US" sz="2400" dirty="0"/>
          </a:p>
        </p:txBody>
      </p:sp>
      <p:pic>
        <p:nvPicPr>
          <p:cNvPr id="47108" name="Picture 6" descr="Heimlich%20Grandm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210" y="2966085"/>
            <a:ext cx="3568700" cy="3595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63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155">
                                            <p:txEl>
                                              <p:charRg st="63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48129"/>
          <p:cNvSpPr>
            <a:spLocks noGrp="1"/>
          </p:cNvSpPr>
          <p:nvPr>
            <p:ph type="title"/>
          </p:nvPr>
        </p:nvSpPr>
        <p:spPr>
          <a:xfrm>
            <a:off x="2639060" y="476250"/>
            <a:ext cx="8366125" cy="1143000"/>
          </a:xfrm>
          <a:noFill/>
          <a:ln>
            <a:noFill/>
          </a:ln>
        </p:spPr>
        <p:txBody>
          <a:bodyPr anchor="t"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海姆立克急救法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-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原理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131" name="内容占位符 48130"/>
          <p:cNvSpPr>
            <a:spLocks noGrp="1"/>
          </p:cNvSpPr>
          <p:nvPr>
            <p:ph idx="1"/>
          </p:nvPr>
        </p:nvSpPr>
        <p:spPr>
          <a:xfrm>
            <a:off x="610235" y="1600200"/>
            <a:ext cx="10971213" cy="4525963"/>
          </a:xfrm>
          <a:noFill/>
          <a:ln>
            <a:noFill/>
          </a:ln>
        </p:spPr>
        <p:txBody>
          <a:bodyPr anchor="t"/>
          <a:p>
            <a:pPr>
              <a:lnSpc>
                <a:spcPct val="16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利用冲击腹部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——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hlinkClick r:id="rId1"/>
              </a:rPr>
              <a:t>膈肌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下软组织，被突然的冲击，产生向上的压力，压迫两肺下部，从而驱使肺部残留空气形成一股气流。这股带有冲击性、方向性的长驱直入于气管的气流，就能将堵住气管、喉部的食物硬块等异物驱除，使人获救。</a:t>
            </a:r>
            <a:r>
              <a:rPr lang="zh-CN" altLang="en-US" dirty="0"/>
              <a:t>         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charRg st="0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内容占位符 51202"/>
          <p:cNvSpPr>
            <a:spLocks noGrp="1"/>
          </p:cNvSpPr>
          <p:nvPr>
            <p:ph idx="1"/>
          </p:nvPr>
        </p:nvSpPr>
        <p:spPr>
          <a:xfrm>
            <a:off x="610235" y="1303338"/>
            <a:ext cx="10971213" cy="4824412"/>
          </a:xfrm>
          <a:noFill/>
          <a:ln>
            <a:noFill/>
          </a:ln>
        </p:spPr>
        <p:txBody>
          <a:bodyPr anchor="t"/>
          <a:p>
            <a:pPr>
              <a:lnSpc>
                <a:spcPct val="16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食物、异物卡喉常见于进食或口含异物时嬉笑、打闹或啼哭而发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生，尤其多见于儿童。表现为突然呛咳、不能发音、呼吸急促、皮肤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发紫，严重者可迅速出现意识丧失，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甚至呼吸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hlinkClick r:id="rId1"/>
              </a:rPr>
              <a:t>心跳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停止。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51204" name="图片 51203" descr="$78NAH(2HHZ[09R3PLO)6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35" y="2852738"/>
            <a:ext cx="3160713" cy="341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20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64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203">
                                            <p:txEl>
                                              <p:charRg st="64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8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203">
                                            <p:txEl>
                                              <p:charRg st="81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50177"/>
          <p:cNvSpPr>
            <a:spLocks noGrp="1"/>
          </p:cNvSpPr>
          <p:nvPr>
            <p:ph type="title"/>
          </p:nvPr>
        </p:nvSpPr>
        <p:spPr>
          <a:xfrm>
            <a:off x="610235" y="446088"/>
            <a:ext cx="10971213" cy="971550"/>
          </a:xfrm>
          <a:noFill/>
          <a:ln>
            <a:noFill/>
          </a:ln>
        </p:spPr>
        <p:txBody>
          <a:bodyPr anchor="t"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“海姆立克”征象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79" name="内容占位符 50178"/>
          <p:cNvSpPr>
            <a:spLocks noGrp="1"/>
          </p:cNvSpPr>
          <p:nvPr>
            <p:ph idx="1"/>
          </p:nvPr>
        </p:nvSpPr>
        <p:spPr>
          <a:xfrm>
            <a:off x="610235" y="1460500"/>
            <a:ext cx="10971213" cy="4667250"/>
          </a:xfrm>
          <a:noFill/>
          <a:ln>
            <a:noFill/>
          </a:ln>
        </p:spPr>
        <p:txBody>
          <a:bodyPr anchor="t"/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x-none" sz="2800" b="1" dirty="0">
                <a:latin typeface="楷体_GB2312" pitchFamily="49" charset="-122"/>
                <a:ea typeface="楷体_GB2312" pitchFamily="49" charset="-122"/>
              </a:rPr>
              <a:t>异物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卡喉的患者，不能说话，不能呼吸，也不能咳嗽。此时患者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可能会用一只手或双手抓住自己的喉咙，此即“海姆立克”征象。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50180" name="图片 50179" descr="30$JY4)Y(OBP0VY@AHC]R$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623" y="2997200"/>
            <a:ext cx="2935287" cy="3168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1" name="Picture 4" descr="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10" y="2981325"/>
            <a:ext cx="2886075" cy="3371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71681"/>
          <p:cNvSpPr>
            <a:spLocks noGrp="1"/>
          </p:cNvSpPr>
          <p:nvPr>
            <p:ph type="title"/>
          </p:nvPr>
        </p:nvSpPr>
        <p:spPr>
          <a:xfrm>
            <a:off x="983298" y="404813"/>
            <a:ext cx="10971212" cy="950912"/>
          </a:xfrm>
          <a:noFill/>
          <a:ln>
            <a:noFill/>
          </a:ln>
        </p:spPr>
        <p:txBody>
          <a:bodyPr anchor="t"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判断病人是否呼吸道异物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683" name="内容占位符 71682"/>
          <p:cNvSpPr>
            <a:spLocks noGrp="1"/>
          </p:cNvSpPr>
          <p:nvPr>
            <p:ph idx="1"/>
          </p:nvPr>
        </p:nvSpPr>
        <p:spPr>
          <a:xfrm>
            <a:off x="610235" y="1600200"/>
            <a:ext cx="10971213" cy="4525963"/>
          </a:xfrm>
          <a:noFill/>
          <a:ln>
            <a:noFill/>
          </a:ln>
        </p:spPr>
        <p:txBody>
          <a:bodyPr anchor="t"/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此时可以询问病人：“你被东西卡了吗？”，如病人点头表示“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是的”，即立刻施行“海姆立克”手法抢救。如无这一苦恼征象，则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应观察以下征象：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、病人不能说话或呼吸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、面、唇青紫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、失去知觉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sz="36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71684" name="图片 71683" descr="3H%LQ[7BH$EU]8XEKRDHR`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3973" y="3068638"/>
            <a:ext cx="4424362" cy="2976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68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64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683">
                                            <p:txEl>
                                              <p:charRg st="64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7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683">
                                            <p:txEl>
                                              <p:charRg st="73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85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1683">
                                            <p:txEl>
                                              <p:charRg st="85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charRg st="9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charRg st="93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56321"/>
          <p:cNvSpPr>
            <a:spLocks noGrp="1"/>
          </p:cNvSpPr>
          <p:nvPr>
            <p:ph type="title"/>
          </p:nvPr>
        </p:nvSpPr>
        <p:spPr>
          <a:xfrm>
            <a:off x="816610" y="189865"/>
            <a:ext cx="9294813" cy="1143000"/>
          </a:xfrm>
          <a:noFill/>
          <a:ln>
            <a:noFill/>
          </a:ln>
        </p:spPr>
        <p:txBody>
          <a:bodyPr/>
          <a:p>
            <a:r>
              <a:rPr lang="zh-CN" altLang="en-US" b="1" dirty="0">
                <a:ea typeface="楷体_GB2312" pitchFamily="49" charset="-122"/>
              </a:rPr>
              <a:t>成人“海姆立克”急救手法（站立）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56323" name="内容占位符 56322"/>
          <p:cNvSpPr>
            <a:spLocks noGrp="1"/>
          </p:cNvSpPr>
          <p:nvPr>
            <p:ph idx="1"/>
          </p:nvPr>
        </p:nvSpPr>
        <p:spPr>
          <a:xfrm>
            <a:off x="610235" y="1600200"/>
            <a:ext cx="10971213" cy="4525963"/>
          </a:xfrm>
          <a:noFill/>
          <a:ln>
            <a:noFill/>
          </a:ln>
        </p:spPr>
        <p:txBody>
          <a:bodyPr/>
          <a:p>
            <a:pPr>
              <a:lnSpc>
                <a:spcPct val="140000"/>
              </a:lnSpc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施救者站在患者后面，脚成弓步状，前脚置於患者双脚间。以大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拇指侧与食指侧对准患者剑突与肚脐之间的腹部，具体在肚脐上两横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指处。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56324" name="图片 56323" descr="~9093T3ORLZLK%GIA3H2S~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385" y="3355975"/>
            <a:ext cx="3959225" cy="3027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5" name="图片 56324" descr="HUV9AKNUH[G0U@I3C82[$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773" y="3355975"/>
            <a:ext cx="3770312" cy="309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32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charRg st="6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323">
                                            <p:txEl>
                                              <p:charRg st="64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9" name="内容占位符 55298"/>
          <p:cNvSpPr>
            <a:spLocks noGrp="1"/>
          </p:cNvSpPr>
          <p:nvPr>
            <p:ph idx="1"/>
          </p:nvPr>
        </p:nvSpPr>
        <p:spPr>
          <a:xfrm>
            <a:off x="1343660" y="1484313"/>
            <a:ext cx="10245725" cy="4525962"/>
          </a:xfrm>
          <a:noFill/>
          <a:ln>
            <a:noFill/>
          </a:ln>
        </p:spPr>
        <p:txBody>
          <a:bodyPr anchor="t"/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用左手将病人背部轻轻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推向前，使病人处于前倾位，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头部略低，嘴要张开，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有利于呼吸道异物被排出。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55300" name="图片 55299" descr="I4XOWBRPDL}JY4H]6(Z9}[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435" y="1339850"/>
            <a:ext cx="3359150" cy="455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1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299">
                                            <p:txEl>
                                              <p:charRg st="11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25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299">
                                            <p:txEl>
                                              <p:charRg st="25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5" name="内容占位符 54274"/>
          <p:cNvSpPr>
            <a:spLocks noGrp="1"/>
          </p:cNvSpPr>
          <p:nvPr>
            <p:ph idx="1"/>
          </p:nvPr>
        </p:nvSpPr>
        <p:spPr>
          <a:xfrm>
            <a:off x="610235" y="1128713"/>
            <a:ext cx="10971213" cy="4997450"/>
          </a:xfrm>
          <a:noFill/>
          <a:ln>
            <a:noFill/>
          </a:ln>
        </p:spPr>
        <p:txBody>
          <a:bodyPr anchor="t"/>
          <a:p>
            <a:pPr>
              <a:lnSpc>
                <a:spcPct val="14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另一手置于拳头上并握紧，双手急速冲击性地、向内上方压迫其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腹部，反复有节奏、有力地进行，以形成的气流把异物冲出。</a:t>
            </a:r>
            <a:r>
              <a:rPr lang="zh-CN" altLang="x-none" sz="2800" b="1" dirty="0">
                <a:latin typeface="楷体_GB2312" pitchFamily="49" charset="-122"/>
                <a:ea typeface="楷体_GB2312" pitchFamily="49" charset="-122"/>
              </a:rPr>
              <a:t>这一急</a:t>
            </a:r>
            <a:endParaRPr lang="zh-CN" altLang="x-none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x-none" sz="2800" b="1" dirty="0">
                <a:latin typeface="楷体_GB2312" pitchFamily="49" charset="-122"/>
                <a:ea typeface="楷体_GB2312" pitchFamily="49" charset="-122"/>
              </a:rPr>
              <a:t>救法又被称为“余气冲击法”。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54276" name="图片 54275" descr="TNX~3_5{AC%`BTO{TXZT7}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385" y="3282950"/>
            <a:ext cx="3549650" cy="2962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7" name="图片 54276" descr="`1VH257U}5LWEOA_J9Q]M5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10" y="3284538"/>
            <a:ext cx="3494088" cy="3019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64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charRg st="64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60417"/>
          <p:cNvSpPr>
            <a:spLocks noGrp="1"/>
          </p:cNvSpPr>
          <p:nvPr>
            <p:ph type="title"/>
          </p:nvPr>
        </p:nvSpPr>
        <p:spPr>
          <a:xfrm>
            <a:off x="784860" y="275908"/>
            <a:ext cx="10972800" cy="996950"/>
          </a:xfrm>
          <a:noFill/>
          <a:ln>
            <a:noFill/>
          </a:ln>
        </p:spPr>
        <p:txBody>
          <a:bodyPr/>
          <a:p>
            <a:r>
              <a:rPr lang="zh-CN" altLang="en-US" b="1" dirty="0">
                <a:ea typeface="楷体_GB2312" pitchFamily="49" charset="-122"/>
              </a:rPr>
              <a:t>成人“海姆立克”急救手法（卧位）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60419" name="内容占位符 60418"/>
          <p:cNvSpPr>
            <a:spLocks noGrp="1"/>
          </p:cNvSpPr>
          <p:nvPr>
            <p:ph idx="1"/>
          </p:nvPr>
        </p:nvSpPr>
        <p:spPr>
          <a:xfrm>
            <a:off x="610235" y="1616075"/>
            <a:ext cx="10971213" cy="4510088"/>
          </a:xfrm>
          <a:noFill/>
          <a:ln>
            <a:noFill/>
          </a:ln>
        </p:spPr>
        <p:txBody>
          <a:bodyPr/>
          <a:p>
            <a:pPr>
              <a:lnSpc>
                <a:spcPct val="140000"/>
              </a:lnSpc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如果发现病人意识不清卧位在地 ，或是病人在站立不便于操作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者进行施救时，取患者于仰卧位，首先开放病人的呼吸道，然后救护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者骑跨在病人大腿外侧，一手以掌根按压肚脐与剑突之间的部位，另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一手掌覆盖其手掌之上，进行冲击性地、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快速地、向前上方压迫，反复至呼吸道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异物被冲出。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60420" name="图片 60419" descr="new_pa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110" y="3644900"/>
            <a:ext cx="3914775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419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64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419">
                                            <p:txEl>
                                              <p:charRg st="64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95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0419">
                                            <p:txEl>
                                              <p:charRg st="95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114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charRg st="114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13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charRg st="132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5" name="内容占位符 59394"/>
          <p:cNvSpPr>
            <a:spLocks noGrp="1"/>
          </p:cNvSpPr>
          <p:nvPr>
            <p:ph idx="1"/>
          </p:nvPr>
        </p:nvSpPr>
        <p:spPr>
          <a:xfrm>
            <a:off x="930910" y="1600200"/>
            <a:ext cx="10650538" cy="4525963"/>
          </a:xfrm>
          <a:noFill/>
          <a:ln>
            <a:noFill/>
          </a:ln>
        </p:spPr>
        <p:txBody>
          <a:bodyPr anchor="t"/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检查口腔，如异物已经被冲出，迅速用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手指从口腔一侧钩出。呼吸道异物取出后，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应及时检查呼吸心跳，如无，应立即行心肺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复苏术。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buNone/>
            </a:pPr>
            <a:endParaRPr lang="zh-CN" altLang="en-US" dirty="0">
              <a:latin typeface="Times New Roman" panose="02020503050405090304" pitchFamily="18" charset="0"/>
            </a:endParaRPr>
          </a:p>
          <a:p>
            <a:endParaRPr lang="zh-CN" altLang="en-US" dirty="0"/>
          </a:p>
        </p:txBody>
      </p:sp>
      <p:pic>
        <p:nvPicPr>
          <p:cNvPr id="59396" name="图片 59395" descr="NI42PXI1K_2N@XWS(M~@0%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860" y="1700213"/>
            <a:ext cx="3190875" cy="343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9395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4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9395">
                                            <p:txEl>
                                              <p:charRg st="42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6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9395">
                                            <p:txEl>
                                              <p:charRg st="62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58369"/>
          <p:cNvSpPr>
            <a:spLocks noGrp="1"/>
          </p:cNvSpPr>
          <p:nvPr>
            <p:ph type="title"/>
          </p:nvPr>
        </p:nvSpPr>
        <p:spPr>
          <a:xfrm>
            <a:off x="622935" y="111760"/>
            <a:ext cx="10971213" cy="1143000"/>
          </a:xfrm>
          <a:noFill/>
          <a:ln>
            <a:noFill/>
          </a:ln>
        </p:spPr>
        <p:txBody>
          <a:bodyPr/>
          <a:p>
            <a:r>
              <a:rPr lang="zh-CN" altLang="en-US" b="1" dirty="0">
                <a:ea typeface="楷体_GB2312" pitchFamily="49" charset="-122"/>
              </a:rPr>
              <a:t>成人“海姆立克”急救手法（孕妇）</a:t>
            </a:r>
            <a:endParaRPr lang="zh-CN" altLang="en-US" b="1" dirty="0">
              <a:ea typeface="楷体_GB2312" pitchFamily="49" charset="-122"/>
            </a:endParaRPr>
          </a:p>
        </p:txBody>
      </p:sp>
      <p:pic>
        <p:nvPicPr>
          <p:cNvPr id="58372" name="内容占位符 58371" descr="6AH%[C471F3][%E7RFBF30C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2935" y="3141663"/>
            <a:ext cx="2292350" cy="3381375"/>
          </a:xfrm>
          <a:noFill/>
          <a:ln>
            <a:noFill/>
          </a:ln>
        </p:spPr>
      </p:pic>
      <p:pic>
        <p:nvPicPr>
          <p:cNvPr id="58373" name="图片 58372" descr="8`~GBR7[`ZZR_2JPD4RNMO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48" y="3789363"/>
            <a:ext cx="3611562" cy="2771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4" name="图片 58373" descr="YIVGW_{GL6(6NP_SGGE84E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323" y="2997200"/>
            <a:ext cx="2554287" cy="3643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0" name="文本框 21509"/>
          <p:cNvSpPr txBox="1"/>
          <p:nvPr/>
        </p:nvSpPr>
        <p:spPr>
          <a:xfrm>
            <a:off x="1343660" y="1700213"/>
            <a:ext cx="9217025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90204" pitchFamily="34" charset="0"/>
                <a:ea typeface="楷体_GB2312" pitchFamily="49" charset="-122"/>
              </a:rPr>
              <a:t>       若受害者为即将临盆的孕妇或者非常肥胖，导致施救者双手无法环抱腹部做挤压，则在胸骨下半段中央垂直向内做胸部按压，直到气道阻塞解除</a:t>
            </a:r>
            <a:endParaRPr lang="zh-CN" altLang="en-US" sz="2800" dirty="0">
              <a:latin typeface="Arial" panose="020B060402020209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64513"/>
          <p:cNvSpPr>
            <a:spLocks noGrp="1"/>
          </p:cNvSpPr>
          <p:nvPr>
            <p:ph type="title"/>
          </p:nvPr>
        </p:nvSpPr>
        <p:spPr>
          <a:xfrm>
            <a:off x="782003" y="302895"/>
            <a:ext cx="10971212" cy="866775"/>
          </a:xfrm>
          <a:noFill/>
          <a:ln>
            <a:noFill/>
          </a:ln>
        </p:spPr>
        <p:txBody>
          <a:bodyPr anchor="t"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自己是受害者，孤立无援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15" name="内容占位符 64514"/>
          <p:cNvSpPr>
            <a:spLocks noGrp="1"/>
          </p:cNvSpPr>
          <p:nvPr>
            <p:ph idx="1"/>
          </p:nvPr>
        </p:nvSpPr>
        <p:spPr>
          <a:xfrm>
            <a:off x="610235" y="1920875"/>
            <a:ext cx="10971213" cy="4205288"/>
          </a:xfrm>
          <a:noFill/>
          <a:ln>
            <a:noFill/>
          </a:ln>
        </p:spPr>
        <p:txBody>
          <a:bodyPr anchor="t"/>
          <a:p>
            <a:pPr>
              <a:lnSpc>
                <a:spcPct val="14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一手握拳，另一手成掌捂按在拳头之上，双手急速冲击性地、向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内上方压迫自己的腹部，反复有节奏、有力地进行。 或稍稍弯下腰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去，靠在一固定物体上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如桌子边缘、椅背、扶手栏杆等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，以物体边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缘压迫上腹部，快速向上冲击。重复之，直至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异物排出。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64516" name="图片 64515" descr="013000001654881216613893255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735" y="3932238"/>
            <a:ext cx="2952750" cy="2735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4515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64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4515">
                                            <p:txEl>
                                              <p:charRg st="64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96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4515">
                                            <p:txEl>
                                              <p:charRg st="96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charRg st="117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4515">
                                            <p:txEl>
                                              <p:charRg st="117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63489"/>
          <p:cNvSpPr>
            <a:spLocks noGrp="1"/>
          </p:cNvSpPr>
          <p:nvPr>
            <p:ph type="title"/>
          </p:nvPr>
        </p:nvSpPr>
        <p:spPr>
          <a:xfrm>
            <a:off x="610235" y="226060"/>
            <a:ext cx="10972800" cy="974725"/>
          </a:xfrm>
          <a:noFill/>
          <a:ln>
            <a:noFill/>
          </a:ln>
        </p:spPr>
        <p:txBody>
          <a:bodyPr/>
          <a:p>
            <a:r>
              <a:rPr lang="zh-CN" altLang="en-US" b="1" dirty="0">
                <a:ea typeface="楷体_GB2312" pitchFamily="49" charset="-122"/>
              </a:rPr>
              <a:t>儿童“海姆立克”急救手法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63491" name="内容占位符 63490"/>
          <p:cNvSpPr>
            <a:spLocks noGrp="1"/>
          </p:cNvSpPr>
          <p:nvPr>
            <p:ph idx="1"/>
          </p:nvPr>
        </p:nvSpPr>
        <p:spPr>
          <a:xfrm>
            <a:off x="610235" y="1849438"/>
            <a:ext cx="10971213" cy="4276725"/>
          </a:xfrm>
          <a:noFill/>
          <a:ln>
            <a:noFill/>
          </a:ln>
        </p:spPr>
        <p:txBody>
          <a:bodyPr/>
          <a:p>
            <a:pPr>
              <a:lnSpc>
                <a:spcPct val="130000"/>
              </a:lnSpc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如果是儿童（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岁）发生气管异物哽塞，其海姆立克法要领和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成人相同。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63492" name="图片 63491" descr="$78NAH(2HHZ[09R3PLO)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010" y="3136900"/>
            <a:ext cx="2398713" cy="296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3" name="图片 63492" descr="ECQ(EMY8LKXOXGWM7DU8@9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510" y="3500438"/>
            <a:ext cx="3235325" cy="2154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4" name="图片 63493" descr="VPWC9U7HMGT]~FMZUVVKF7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735" y="2708275"/>
            <a:ext cx="2843213" cy="378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3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charRg st="34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468" name="内容占位符 62467" descr="8Y76Y$[LD7W@MDSBPXPOE8O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1273" y="1790700"/>
            <a:ext cx="2878137" cy="3386138"/>
          </a:xfrm>
          <a:noFill/>
          <a:ln>
            <a:noFill/>
          </a:ln>
        </p:spPr>
      </p:pic>
      <p:pic>
        <p:nvPicPr>
          <p:cNvPr id="62469" name="图片 62468" descr="2R1@_1[%HAZ@7A5S{Z@JF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085" y="1790700"/>
            <a:ext cx="2679700" cy="337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0" name="图片 62469" descr="6`%FL6BOCV79Z2UNQU}%L1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198" y="1771650"/>
            <a:ext cx="2716212" cy="3371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61441"/>
          <p:cNvSpPr>
            <a:spLocks noGrp="1"/>
          </p:cNvSpPr>
          <p:nvPr>
            <p:ph type="title"/>
          </p:nvPr>
        </p:nvSpPr>
        <p:spPr>
          <a:xfrm>
            <a:off x="817880" y="255588"/>
            <a:ext cx="10971213" cy="962025"/>
          </a:xfrm>
          <a:noFill/>
          <a:ln>
            <a:noFill/>
          </a:ln>
        </p:spPr>
        <p:txBody>
          <a:bodyPr anchor="t"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婴儿呼吸道异物窒息急救方法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3" name="内容占位符 61442"/>
          <p:cNvSpPr>
            <a:spLocks noGrp="1"/>
          </p:cNvSpPr>
          <p:nvPr>
            <p:ph idx="1"/>
          </p:nvPr>
        </p:nvSpPr>
        <p:spPr>
          <a:xfrm>
            <a:off x="610235" y="1600200"/>
            <a:ext cx="10971213" cy="4525963"/>
          </a:xfrm>
          <a:noFill/>
          <a:ln>
            <a:noFill/>
          </a:ln>
        </p:spPr>
        <p:txBody>
          <a:bodyPr anchor="t"/>
          <a:p>
            <a:pPr>
              <a:lnSpc>
                <a:spcPct val="13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若是小於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岁以下之婴儿，有呼吸道异物，则不可做哈姆立克急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救法，以免伤及腹腔内器官，应改为拍背压胸法。方法为：一手置于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婴儿颈背部，另一手置于婴儿颈胸部。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1444" name="图片 61443" descr="`}E`TB{7@03YUGBR3$A)NJ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3860800"/>
            <a:ext cx="3219450" cy="2133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45" name="图片 61444" descr=")5{2[AK0OV1XS}9IWB}BK6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335" y="3284538"/>
            <a:ext cx="2355850" cy="3217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64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charRg st="64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3" name="内容占位符 66562"/>
          <p:cNvSpPr>
            <a:spLocks noGrp="1"/>
          </p:cNvSpPr>
          <p:nvPr>
            <p:ph idx="1"/>
          </p:nvPr>
        </p:nvSpPr>
        <p:spPr>
          <a:xfrm>
            <a:off x="610235" y="1158240"/>
            <a:ext cx="10971530" cy="2840355"/>
          </a:xfrm>
          <a:noFill/>
          <a:ln>
            <a:noFill/>
          </a:ln>
        </p:spPr>
        <p:txBody>
          <a:bodyPr anchor="t">
            <a:normAutofit lnSpcReduction="10000"/>
          </a:bodyPr>
          <a:p>
            <a:pPr>
              <a:lnSpc>
                <a:spcPct val="14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先将婴儿趴在大人前臂，依靠在操作者的大腿上，头部稍向下前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倾，在其背部两肩胛骨间拍背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次，依患者年纪决定力量的大小。再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将婴儿翻正，在婴儿胸骨下半段，用食指及中指压胸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次，重覆上述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动作直到异物吐出。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66564" name="图片 66563" descr="YYUD6V~G0(JP[(DSI{7EW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7338" y="3998595"/>
            <a:ext cx="1984375" cy="2673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5" name="图片 66564" descr="648S6V}Y2DQ6103PR9(1$3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973" y="4011295"/>
            <a:ext cx="1963737" cy="2660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6" name="图片 66565" descr="`_]3ZYI0XUI3C$6PQ]]@G)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820" y="3998595"/>
            <a:ext cx="1968500" cy="2660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charRg st="33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charRg st="64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563">
                                            <p:txEl>
                                              <p:charRg st="64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charRg st="9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563">
                                            <p:txEl>
                                              <p:charRg st="95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588" name="内容占位符 67587" descr="37EEW`O23)[6C)~1B}HY~H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8005" y="1362393"/>
            <a:ext cx="2305050" cy="2781300"/>
          </a:xfrm>
          <a:noFill/>
          <a:ln>
            <a:noFill/>
          </a:ln>
        </p:spPr>
      </p:pic>
      <p:pic>
        <p:nvPicPr>
          <p:cNvPr id="67589" name="图片 67588" descr="6VR]19}XS2TU]1PPVYG5ZB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255" y="1362393"/>
            <a:ext cx="2124075" cy="2730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0" name="图片 67589" descr="41Z6H}AT{DAC}K6K}F1J$F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80" y="3627438"/>
            <a:ext cx="2200275" cy="290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1" name="图片 67590" descr="N@1ROS1Z$445~}QNF4V~]{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995" y="3716338"/>
            <a:ext cx="2124075" cy="2951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内容占位符 68610"/>
          <p:cNvSpPr>
            <a:spLocks noGrp="1"/>
          </p:cNvSpPr>
          <p:nvPr>
            <p:ph idx="1"/>
          </p:nvPr>
        </p:nvSpPr>
        <p:spPr>
          <a:xfrm>
            <a:off x="610235" y="1600200"/>
            <a:ext cx="10971213" cy="4525963"/>
          </a:xfrm>
          <a:noFill/>
          <a:ln>
            <a:noFill/>
          </a:ln>
        </p:spPr>
        <p:txBody>
          <a:bodyPr anchor="t"/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切忌将婴儿双脚抓起倒吊从背部拍打，如此由人体解剖关系，不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仅无法将气管异物排出，还会增加婴儿颈椎受伤的危险。</a:t>
            </a:r>
            <a:r>
              <a:rPr lang="zh-CN" altLang="en-US" dirty="0"/>
              <a:t> 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3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charRg st="33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69633"/>
          <p:cNvSpPr>
            <a:spLocks noGrp="1"/>
          </p:cNvSpPr>
          <p:nvPr>
            <p:ph type="title"/>
          </p:nvPr>
        </p:nvSpPr>
        <p:spPr>
          <a:xfrm>
            <a:off x="726440" y="457200"/>
            <a:ext cx="10971213" cy="1143000"/>
          </a:xfrm>
          <a:noFill/>
          <a:ln>
            <a:noFill/>
          </a:ln>
        </p:spPr>
        <p:txBody>
          <a:bodyPr anchor="t"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并发症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9635" name="内容占位符 69634"/>
          <p:cNvSpPr>
            <a:spLocks noGrp="1"/>
          </p:cNvSpPr>
          <p:nvPr>
            <p:ph idx="1"/>
          </p:nvPr>
        </p:nvSpPr>
        <p:spPr>
          <a:xfrm>
            <a:off x="610235" y="1600200"/>
            <a:ext cx="10971213" cy="4525963"/>
          </a:xfrm>
          <a:noFill/>
          <a:ln>
            <a:noFill/>
          </a:ln>
        </p:spPr>
        <p:txBody>
          <a:bodyPr anchor="t"/>
          <a:p>
            <a:pPr>
              <a:lnSpc>
                <a:spcPct val="140000"/>
              </a:lnSpc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Heimlich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手法虽卓有成效，但也可产生合并症，如：肋骨骨折、腹部或胸腔内脏的破裂或撕裂，故除非必要时，一般不随便采用此法。如果患者呼吸道部分梗阻，气体交换良好，就应鼓励患者用力咳嗽，并自主呼吸；如患者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hlinkClick r:id="rId1"/>
              </a:rPr>
              <a:t>呼吸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微弱，咳嗽乏力或呼吸道完全梗阻，则立刻使用此手法。在使用本法成功抢救患者后应检查患者有无并发症的发生。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0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charRg st="0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9ebff86991480683d39d9044cdb62c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45" y="1663700"/>
            <a:ext cx="6718300" cy="3777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2016模板</Template>
  <TotalTime>0</TotalTime>
  <Words>2241</Words>
  <Application>WPS 演示</Application>
  <PresentationFormat>宽屏</PresentationFormat>
  <Paragraphs>135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4" baseType="lpstr">
      <vt:lpstr>Arial</vt:lpstr>
      <vt:lpstr>方正书宋_GBK</vt:lpstr>
      <vt:lpstr>Wingdings</vt:lpstr>
      <vt:lpstr>幼圆</vt:lpstr>
      <vt:lpstr>华文宋体</vt:lpstr>
      <vt:lpstr>Footlight MT Light</vt:lpstr>
      <vt:lpstr>Thonburi</vt:lpstr>
      <vt:lpstr>Goudy Old Style</vt:lpstr>
      <vt:lpstr>Garamond</vt:lpstr>
      <vt:lpstr>隶书</vt:lpstr>
      <vt:lpstr>报隶-简</vt:lpstr>
      <vt:lpstr>楷体_GB2312</vt:lpstr>
      <vt:lpstr>汉仪楷体简</vt:lpstr>
      <vt:lpstr>Times New Roman</vt:lpstr>
      <vt:lpstr>黑体</vt:lpstr>
      <vt:lpstr>汉仪中黑KW</vt:lpstr>
      <vt:lpstr>幼圆</vt:lpstr>
      <vt:lpstr>苹方-简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主题</vt:lpstr>
      <vt:lpstr>急诊室的故事</vt:lpstr>
      <vt:lpstr>1.一颗葡萄引发的血案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海姆立克(Heimlich)急救法</vt:lpstr>
      <vt:lpstr>PowerPoint 演示文稿</vt:lpstr>
      <vt:lpstr>海姆立克急救法 - 原理</vt:lpstr>
      <vt:lpstr>PowerPoint 演示文稿</vt:lpstr>
      <vt:lpstr>“海姆立克”征象</vt:lpstr>
      <vt:lpstr>判断病人是否呼吸道异物</vt:lpstr>
      <vt:lpstr>成人“海姆立克”急救手法（站立）</vt:lpstr>
      <vt:lpstr>PowerPoint 演示文稿</vt:lpstr>
      <vt:lpstr>PowerPoint 演示文稿</vt:lpstr>
      <vt:lpstr>成人“海姆立克”急救手法（卧位）</vt:lpstr>
      <vt:lpstr>PowerPoint 演示文稿</vt:lpstr>
      <vt:lpstr>成人“海姆立克”急救手法（孕妇）</vt:lpstr>
      <vt:lpstr>自己是受害者，孤立无援</vt:lpstr>
      <vt:lpstr>儿童“海姆立克”急救手法</vt:lpstr>
      <vt:lpstr>PowerPoint 演示文稿</vt:lpstr>
      <vt:lpstr>婴儿呼吸道异物窒息急救方法</vt:lpstr>
      <vt:lpstr>PowerPoint 演示文稿</vt:lpstr>
      <vt:lpstr>PowerPoint 演示文稿</vt:lpstr>
      <vt:lpstr>PowerPoint 演示文稿</vt:lpstr>
      <vt:lpstr>并发症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急诊室的故事</dc:title>
  <dc:creator>user01</dc:creator>
  <cp:lastModifiedBy>wangfei</cp:lastModifiedBy>
  <cp:revision>11</cp:revision>
  <dcterms:created xsi:type="dcterms:W3CDTF">2020-10-05T13:12:02Z</dcterms:created>
  <dcterms:modified xsi:type="dcterms:W3CDTF">2020-10-05T13:12:02Z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2052-2.7.1.4479</vt:lpwstr>
  </property>
</Properties>
</file>